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CF40C-CA6A-E0C1-0132-CE897BCED6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7039B3-5E39-CFE9-476B-6C13091676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261FF4-77BE-DD01-CAAA-34956A5CDBB5}"/>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5" name="Footer Placeholder 4">
            <a:extLst>
              <a:ext uri="{FF2B5EF4-FFF2-40B4-BE49-F238E27FC236}">
                <a16:creationId xmlns:a16="http://schemas.microsoft.com/office/drawing/2014/main" id="{B14F27D6-E75E-1A24-E5CE-989CCCDED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63E292-30A5-46C7-E588-C8C1B572E8E2}"/>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367630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960AC-06D2-F95F-2464-C0348E0125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8EA41-6882-3C1D-2C2D-35E53DD636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53D26-E92D-11BC-B796-527A0E5AD8EC}"/>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5" name="Footer Placeholder 4">
            <a:extLst>
              <a:ext uri="{FF2B5EF4-FFF2-40B4-BE49-F238E27FC236}">
                <a16:creationId xmlns:a16="http://schemas.microsoft.com/office/drawing/2014/main" id="{802E808E-8F3A-8634-1DD2-34E94F2D9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D4B45-54A3-82D6-7DBB-D5BAA7F9B79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80719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8E8E-C44B-80A7-4955-B327DB743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51CDD4-DB60-88F7-2678-842179AA62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A69DA-8CF3-CC9E-0296-CD3016542189}"/>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5" name="Footer Placeholder 4">
            <a:extLst>
              <a:ext uri="{FF2B5EF4-FFF2-40B4-BE49-F238E27FC236}">
                <a16:creationId xmlns:a16="http://schemas.microsoft.com/office/drawing/2014/main" id="{8C0562ED-8753-332F-CFD1-91F0F37AE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B9A6C5-BB43-C1B3-47A9-1C2A70FFFD0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2906197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292F6-B228-7E8B-6ABF-74E9774E75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9F327E-4C36-7FC1-C795-C68D091AEB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516B4-EA55-C2F3-A195-7C31F05EBB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2D09AB-21F2-7AAD-86B3-2A581410331F}"/>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6" name="Footer Placeholder 5">
            <a:extLst>
              <a:ext uri="{FF2B5EF4-FFF2-40B4-BE49-F238E27FC236}">
                <a16:creationId xmlns:a16="http://schemas.microsoft.com/office/drawing/2014/main" id="{F18B5F16-B702-A443-8BE3-9BEB0E8C92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12D23E-DD47-35BF-DE6E-8D50D6E74C88}"/>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228359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3DF9-FFDC-FC08-3F70-942058A2CE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572A1-4FAE-4612-69AA-6F0220438E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69E418-56AF-08DF-928C-DDCE3068A5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1D6576-E9B8-D403-20FA-81F7FD4E98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230E92-3201-4115-BD5F-2A11BCD649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766806-1801-17AD-3950-B6BBFF885BAC}"/>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8" name="Footer Placeholder 7">
            <a:extLst>
              <a:ext uri="{FF2B5EF4-FFF2-40B4-BE49-F238E27FC236}">
                <a16:creationId xmlns:a16="http://schemas.microsoft.com/office/drawing/2014/main" id="{636F2485-6BAA-68D1-977C-0BFE631E17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D68796-3A7C-4FE7-996E-D5352F20C19F}"/>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3836659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0879D-812F-CABD-CEF9-C5C1ECE035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DADA39-8977-0672-712D-CB628E7C2FE9}"/>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4" name="Footer Placeholder 3">
            <a:extLst>
              <a:ext uri="{FF2B5EF4-FFF2-40B4-BE49-F238E27FC236}">
                <a16:creationId xmlns:a16="http://schemas.microsoft.com/office/drawing/2014/main" id="{4EAA3611-B2AE-16E0-79D0-F7C5E0D7BC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374F8E-17FA-07AD-B3AD-47597119DA1D}"/>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05287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CFBED3-FD3C-9A72-31EA-1175F8E83568}"/>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3" name="Footer Placeholder 2">
            <a:extLst>
              <a:ext uri="{FF2B5EF4-FFF2-40B4-BE49-F238E27FC236}">
                <a16:creationId xmlns:a16="http://schemas.microsoft.com/office/drawing/2014/main" id="{16346192-93E7-B328-1043-C18F4E6FD2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D2EB33-18C5-89AC-911C-9DF795ECF2AE}"/>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494304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CA2B2-F914-793C-F079-7DA23F72E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A9D4F5-782B-71D4-A5AB-7A839BDB5C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AF3256-87F2-B063-110C-C09D73820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5B84F-49C3-056B-5E2C-032BD06099CE}"/>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6" name="Footer Placeholder 5">
            <a:extLst>
              <a:ext uri="{FF2B5EF4-FFF2-40B4-BE49-F238E27FC236}">
                <a16:creationId xmlns:a16="http://schemas.microsoft.com/office/drawing/2014/main" id="{EF44A653-E118-7633-24DA-ED906E84E0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42CC50-090C-561F-150B-199E5CCCA69F}"/>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659561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93D4-23B3-D608-F04F-1E917EE68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9BA41F-E4B1-3A2D-6F5E-CCE9598E61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DAA589-2B5D-F3B3-ABD4-C5AF90143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82D5BD-8E2B-B86E-32D0-8245D9F78C6D}"/>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6" name="Footer Placeholder 5">
            <a:extLst>
              <a:ext uri="{FF2B5EF4-FFF2-40B4-BE49-F238E27FC236}">
                <a16:creationId xmlns:a16="http://schemas.microsoft.com/office/drawing/2014/main" id="{4D828F58-0507-F7D0-ED90-7B45B15169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B70E03-0513-F86F-1644-439149A4EE72}"/>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87520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7647-5D1B-500C-60C7-CEE356B9B3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C4963B-8E6B-F739-0175-2E79F27D9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29378-9938-B595-F064-B00DDFCCCEF4}"/>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5" name="Footer Placeholder 4">
            <a:extLst>
              <a:ext uri="{FF2B5EF4-FFF2-40B4-BE49-F238E27FC236}">
                <a16:creationId xmlns:a16="http://schemas.microsoft.com/office/drawing/2014/main" id="{6CB40FFC-0F39-B261-ECB6-6207A3850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3B653-08BB-7E10-6AEB-CF8A32BA05F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249234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402B04-B20A-1BE1-71BB-4E3B1BCAEB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3A3D8E-16D4-229A-5274-5DFD3077BE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4081C0-2FA2-7A2A-1C49-D0278EAB9144}"/>
              </a:ext>
            </a:extLst>
          </p:cNvPr>
          <p:cNvSpPr>
            <a:spLocks noGrp="1"/>
          </p:cNvSpPr>
          <p:nvPr>
            <p:ph type="dt" sz="half" idx="10"/>
          </p:nvPr>
        </p:nvSpPr>
        <p:spPr/>
        <p:txBody>
          <a:bodyPr/>
          <a:lstStyle/>
          <a:p>
            <a:fld id="{ECD4BC5D-ED91-4BE9-91D2-4F4CC3FCFFE5}" type="datetimeFigureOut">
              <a:rPr lang="en-US" smtClean="0"/>
              <a:t>4/1/2026</a:t>
            </a:fld>
            <a:endParaRPr lang="en-US"/>
          </a:p>
        </p:txBody>
      </p:sp>
      <p:sp>
        <p:nvSpPr>
          <p:cNvPr id="5" name="Footer Placeholder 4">
            <a:extLst>
              <a:ext uri="{FF2B5EF4-FFF2-40B4-BE49-F238E27FC236}">
                <a16:creationId xmlns:a16="http://schemas.microsoft.com/office/drawing/2014/main" id="{DB98B2F1-C479-2126-7F30-956DBDCECC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464AC-2FF1-C5BE-8591-E9D1571319A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203773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8CCA9A-DF24-D69A-0469-D08F698D35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FE3A0B-852D-AF32-6F37-02A7A7D6C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2C773-5957-FD33-0B7C-533B38C310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D4BC5D-ED91-4BE9-91D2-4F4CC3FCFFE5}" type="datetimeFigureOut">
              <a:rPr lang="en-US" smtClean="0"/>
              <a:t>4/1/2026</a:t>
            </a:fld>
            <a:endParaRPr lang="en-US"/>
          </a:p>
        </p:txBody>
      </p:sp>
      <p:sp>
        <p:nvSpPr>
          <p:cNvPr id="5" name="Footer Placeholder 4">
            <a:extLst>
              <a:ext uri="{FF2B5EF4-FFF2-40B4-BE49-F238E27FC236}">
                <a16:creationId xmlns:a16="http://schemas.microsoft.com/office/drawing/2014/main" id="{C4C97FBD-03C3-FE5D-AF21-D5C95E3C61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FC8C43-7EA9-012B-DA49-45ACBE7189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338739-DE79-434F-99A7-764C0A7203F1}" type="slidenum">
              <a:rPr lang="en-US" smtClean="0"/>
              <a:t>‹#›</a:t>
            </a:fld>
            <a:endParaRPr lang="en-US"/>
          </a:p>
        </p:txBody>
      </p:sp>
    </p:spTree>
    <p:extLst>
      <p:ext uri="{BB962C8B-B14F-4D97-AF65-F5344CB8AC3E}">
        <p14:creationId xmlns:p14="http://schemas.microsoft.com/office/powerpoint/2010/main" val="4142377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7C619-4A5B-6BD0-1FE2-4B73CDA5E176}"/>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B8DEEDE6-F119-5F70-2FE9-CB210272E1D6}"/>
              </a:ext>
            </a:extLst>
          </p:cNvPr>
          <p:cNvSpPr>
            <a:spLocks noGrp="1"/>
          </p:cNvSpPr>
          <p:nvPr>
            <p:ph type="subTitle" idx="1"/>
          </p:nvPr>
        </p:nvSpPr>
        <p:spPr>
          <a:xfrm>
            <a:off x="1524000" y="4577038"/>
            <a:ext cx="9144000" cy="827881"/>
          </a:xfrm>
        </p:spPr>
        <p:txBody>
          <a:bodyPr/>
          <a:lstStyle/>
          <a:p>
            <a:endParaRPr lang="en-US" dirty="0"/>
          </a:p>
        </p:txBody>
      </p:sp>
      <p:pic>
        <p:nvPicPr>
          <p:cNvPr id="8" name="Picture 7">
            <a:extLst>
              <a:ext uri="{FF2B5EF4-FFF2-40B4-BE49-F238E27FC236}">
                <a16:creationId xmlns:a16="http://schemas.microsoft.com/office/drawing/2014/main" id="{EC0ACB65-5763-4FD9-0BFB-E1A5E1252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519" y="253712"/>
            <a:ext cx="9754961" cy="4124901"/>
          </a:xfrm>
          <a:prstGeom prst="rect">
            <a:avLst/>
          </a:prstGeom>
        </p:spPr>
      </p:pic>
    </p:spTree>
    <p:extLst>
      <p:ext uri="{BB962C8B-B14F-4D97-AF65-F5344CB8AC3E}">
        <p14:creationId xmlns:p14="http://schemas.microsoft.com/office/powerpoint/2010/main" val="3807008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94055-4040-EA6B-53D0-53DA6447DA5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EF49039-1179-A43F-53A2-05206EFFBEE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523839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62D26B-EC47-FFF1-C855-12397C0559AB}"/>
              </a:ext>
            </a:extLst>
          </p:cNvPr>
          <p:cNvSpPr/>
          <p:nvPr/>
        </p:nvSpPr>
        <p:spPr>
          <a:xfrm>
            <a:off x="838200" y="1946499"/>
            <a:ext cx="2945524" cy="41747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506988-ECE1-9A22-02B7-046BC2ABBBDD}"/>
              </a:ext>
            </a:extLst>
          </p:cNvPr>
          <p:cNvSpPr>
            <a:spLocks noGrp="1"/>
          </p:cNvSpPr>
          <p:nvPr>
            <p:ph type="title"/>
          </p:nvPr>
        </p:nvSpPr>
        <p:spPr/>
        <p:txBody>
          <a:bodyPr/>
          <a:lstStyle/>
          <a:p>
            <a:r>
              <a:rPr lang="en-US" dirty="0"/>
              <a:t>The members of the Arcane </a:t>
            </a:r>
            <a:r>
              <a:rPr lang="en-US" dirty="0" err="1"/>
              <a:t>Armoury</a:t>
            </a:r>
            <a:r>
              <a:rPr lang="en-US" dirty="0"/>
              <a:t> Project</a:t>
            </a:r>
          </a:p>
        </p:txBody>
      </p:sp>
      <p:sp>
        <p:nvSpPr>
          <p:cNvPr id="5" name="TextBox 4">
            <a:extLst>
              <a:ext uri="{FF2B5EF4-FFF2-40B4-BE49-F238E27FC236}">
                <a16:creationId xmlns:a16="http://schemas.microsoft.com/office/drawing/2014/main" id="{41B9D95C-39D8-5C08-8939-97AF792F8628}"/>
              </a:ext>
            </a:extLst>
          </p:cNvPr>
          <p:cNvSpPr txBox="1"/>
          <p:nvPr/>
        </p:nvSpPr>
        <p:spPr>
          <a:xfrm>
            <a:off x="4739640" y="2002221"/>
            <a:ext cx="2651760" cy="369332"/>
          </a:xfrm>
          <a:prstGeom prst="rect">
            <a:avLst/>
          </a:prstGeom>
          <a:noFill/>
        </p:spPr>
        <p:txBody>
          <a:bodyPr wrap="square" rtlCol="0">
            <a:spAutoFit/>
          </a:bodyPr>
          <a:lstStyle/>
          <a:p>
            <a:r>
              <a:rPr lang="en-US" dirty="0"/>
              <a:t>.</a:t>
            </a:r>
          </a:p>
        </p:txBody>
      </p:sp>
      <p:sp>
        <p:nvSpPr>
          <p:cNvPr id="7" name="Rectangle 6">
            <a:extLst>
              <a:ext uri="{FF2B5EF4-FFF2-40B4-BE49-F238E27FC236}">
                <a16:creationId xmlns:a16="http://schemas.microsoft.com/office/drawing/2014/main" id="{98439DC0-78A8-6621-E9E1-17959957E07E}"/>
              </a:ext>
            </a:extLst>
          </p:cNvPr>
          <p:cNvSpPr/>
          <p:nvPr/>
        </p:nvSpPr>
        <p:spPr>
          <a:xfrm>
            <a:off x="4693920" y="2002221"/>
            <a:ext cx="2945524" cy="41190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848F8F-F20B-C0CC-D9F4-7B94E12FE03A}"/>
              </a:ext>
            </a:extLst>
          </p:cNvPr>
          <p:cNvSpPr/>
          <p:nvPr/>
        </p:nvSpPr>
        <p:spPr>
          <a:xfrm>
            <a:off x="8549640" y="1974359"/>
            <a:ext cx="2945524" cy="41190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63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8ED61-DF4D-56F7-DE04-5DD2A7992463}"/>
              </a:ext>
            </a:extLst>
          </p:cNvPr>
          <p:cNvSpPr>
            <a:spLocks noGrp="1"/>
          </p:cNvSpPr>
          <p:nvPr>
            <p:ph type="title"/>
          </p:nvPr>
        </p:nvSpPr>
        <p:spPr/>
        <p:txBody>
          <a:bodyPr/>
          <a:lstStyle/>
          <a:p>
            <a:r>
              <a:rPr lang="en-US" dirty="0"/>
              <a:t>The Arcane </a:t>
            </a:r>
            <a:r>
              <a:rPr lang="en-US" dirty="0" err="1"/>
              <a:t>Armoury</a:t>
            </a:r>
            <a:r>
              <a:rPr lang="en-US" dirty="0"/>
              <a:t> Project</a:t>
            </a:r>
          </a:p>
        </p:txBody>
      </p:sp>
      <p:sp>
        <p:nvSpPr>
          <p:cNvPr id="3" name="Content Placeholder 2">
            <a:extLst>
              <a:ext uri="{FF2B5EF4-FFF2-40B4-BE49-F238E27FC236}">
                <a16:creationId xmlns:a16="http://schemas.microsoft.com/office/drawing/2014/main" id="{CE296181-5B07-117C-AE8D-0568C3D3E2D6}"/>
              </a:ext>
            </a:extLst>
          </p:cNvPr>
          <p:cNvSpPr>
            <a:spLocks noGrp="1"/>
          </p:cNvSpPr>
          <p:nvPr>
            <p:ph idx="1"/>
          </p:nvPr>
        </p:nvSpPr>
        <p:spPr/>
        <p:txBody>
          <a:bodyPr/>
          <a:lstStyle/>
          <a:p>
            <a:r>
              <a:rPr lang="en-US" dirty="0"/>
              <a:t>The idea of the project is to have a dual monitor setup, one monitor for the Dungeon Master and one monitor for the Players to view.</a:t>
            </a:r>
          </a:p>
          <a:p>
            <a:r>
              <a:rPr lang="en-US" dirty="0"/>
              <a:t>The purpose of this is to have a digital semi-interactable interface for players to actively engage in as a group.</a:t>
            </a:r>
          </a:p>
          <a:p>
            <a:r>
              <a:rPr lang="en-US" dirty="0"/>
              <a:t>This project is set up on a Raspberry Pi 4, alongside a remote made using a breadboard and an ESP 32U, as well as two monitors.</a:t>
            </a:r>
          </a:p>
          <a:p>
            <a:endParaRPr lang="en-US" dirty="0"/>
          </a:p>
          <a:p>
            <a:pPr marL="0" indent="0">
              <a:buNone/>
            </a:pPr>
            <a:endParaRPr lang="en-US" dirty="0"/>
          </a:p>
        </p:txBody>
      </p:sp>
    </p:spTree>
    <p:extLst>
      <p:ext uri="{BB962C8B-B14F-4D97-AF65-F5344CB8AC3E}">
        <p14:creationId xmlns:p14="http://schemas.microsoft.com/office/powerpoint/2010/main" val="2864426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0B6CE-F037-224E-7A48-6CC74DD1DE96}"/>
              </a:ext>
            </a:extLst>
          </p:cNvPr>
          <p:cNvSpPr>
            <a:spLocks noGrp="1"/>
          </p:cNvSpPr>
          <p:nvPr>
            <p:ph type="title"/>
          </p:nvPr>
        </p:nvSpPr>
        <p:spPr/>
        <p:txBody>
          <a:bodyPr/>
          <a:lstStyle/>
          <a:p>
            <a:r>
              <a:rPr lang="en-US" dirty="0"/>
              <a:t>The Scope of The Arcane </a:t>
            </a:r>
            <a:r>
              <a:rPr lang="en-US" dirty="0" err="1"/>
              <a:t>Armoury</a:t>
            </a:r>
            <a:r>
              <a:rPr lang="en-US" dirty="0"/>
              <a:t> Project</a:t>
            </a:r>
          </a:p>
        </p:txBody>
      </p:sp>
      <p:sp>
        <p:nvSpPr>
          <p:cNvPr id="3" name="Content Placeholder 2">
            <a:extLst>
              <a:ext uri="{FF2B5EF4-FFF2-40B4-BE49-F238E27FC236}">
                <a16:creationId xmlns:a16="http://schemas.microsoft.com/office/drawing/2014/main" id="{F60EFE8F-615F-9F8B-0F4D-0BFEB4FCB61E}"/>
              </a:ext>
            </a:extLst>
          </p:cNvPr>
          <p:cNvSpPr>
            <a:spLocks noGrp="1"/>
          </p:cNvSpPr>
          <p:nvPr>
            <p:ph idx="1"/>
          </p:nvPr>
        </p:nvSpPr>
        <p:spPr/>
        <p:txBody>
          <a:bodyPr/>
          <a:lstStyle/>
          <a:p>
            <a:r>
              <a:rPr lang="en-US" dirty="0"/>
              <a:t>The primary program that would be responsible for the majority of the project's functionality.</a:t>
            </a:r>
          </a:p>
          <a:p>
            <a:r>
              <a:rPr lang="en-US" dirty="0"/>
              <a:t>An interface for the Dungeon Master to have the ability to change the background, character portraits, and player turns.</a:t>
            </a:r>
          </a:p>
          <a:p>
            <a:r>
              <a:rPr lang="en-US" dirty="0"/>
              <a:t>A remote controller for players to be able to raise and lower the state of their current Health points</a:t>
            </a:r>
          </a:p>
          <a:p>
            <a:r>
              <a:rPr lang="en-US" dirty="0"/>
              <a:t>A 3D printed shell casing for the remote controller.</a:t>
            </a:r>
          </a:p>
          <a:p>
            <a:endParaRPr lang="en-US" dirty="0"/>
          </a:p>
          <a:p>
            <a:endParaRPr lang="en-US" dirty="0"/>
          </a:p>
          <a:p>
            <a:endParaRPr lang="en-US" dirty="0"/>
          </a:p>
        </p:txBody>
      </p:sp>
    </p:spTree>
    <p:extLst>
      <p:ext uri="{BB962C8B-B14F-4D97-AF65-F5344CB8AC3E}">
        <p14:creationId xmlns:p14="http://schemas.microsoft.com/office/powerpoint/2010/main" val="3697295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0E42C-3666-6A5B-4EA2-6036AFBBEDE3}"/>
              </a:ext>
            </a:extLst>
          </p:cNvPr>
          <p:cNvSpPr>
            <a:spLocks noGrp="1"/>
          </p:cNvSpPr>
          <p:nvPr>
            <p:ph type="title"/>
          </p:nvPr>
        </p:nvSpPr>
        <p:spPr/>
        <p:txBody>
          <a:bodyPr/>
          <a:lstStyle/>
          <a:p>
            <a:r>
              <a:rPr lang="en-US" dirty="0"/>
              <a:t>The Tech Stack</a:t>
            </a:r>
          </a:p>
        </p:txBody>
      </p:sp>
      <p:sp>
        <p:nvSpPr>
          <p:cNvPr id="3" name="Content Placeholder 2">
            <a:extLst>
              <a:ext uri="{FF2B5EF4-FFF2-40B4-BE49-F238E27FC236}">
                <a16:creationId xmlns:a16="http://schemas.microsoft.com/office/drawing/2014/main" id="{F54CA723-9753-877C-8E19-8EF2C70BE051}"/>
              </a:ext>
            </a:extLst>
          </p:cNvPr>
          <p:cNvSpPr>
            <a:spLocks noGrp="1"/>
          </p:cNvSpPr>
          <p:nvPr>
            <p:ph idx="1"/>
          </p:nvPr>
        </p:nvSpPr>
        <p:spPr/>
        <p:txBody>
          <a:bodyPr>
            <a:normAutofit lnSpcReduction="10000"/>
          </a:bodyPr>
          <a:lstStyle/>
          <a:p>
            <a:r>
              <a:rPr lang="en-US" dirty="0"/>
              <a:t>A program that uses python, java script, HTML, CSS as well as making the program itself compatible to receive signals from the main remote controller. As well as getting the interface for the Dungeon Master to have the ability to change the background, character portraits, and player turns.</a:t>
            </a:r>
          </a:p>
          <a:p>
            <a:r>
              <a:rPr lang="en-US" dirty="0"/>
              <a:t>A remote controller using breadboard components alongside an ESP 32U (For the purposes of Bluetooth).</a:t>
            </a:r>
          </a:p>
          <a:p>
            <a:r>
              <a:rPr lang="en-US" dirty="0"/>
              <a:t>A 3D printed shell casing for the remote controller.</a:t>
            </a:r>
          </a:p>
          <a:p>
            <a:r>
              <a:rPr lang="en-US" dirty="0"/>
              <a:t>Dual Monitors</a:t>
            </a:r>
          </a:p>
          <a:p>
            <a:r>
              <a:rPr lang="en-US" dirty="0"/>
              <a:t>A single Raspberry Pi 4</a:t>
            </a:r>
          </a:p>
          <a:p>
            <a:endParaRPr lang="en-US" dirty="0"/>
          </a:p>
        </p:txBody>
      </p:sp>
    </p:spTree>
    <p:extLst>
      <p:ext uri="{BB962C8B-B14F-4D97-AF65-F5344CB8AC3E}">
        <p14:creationId xmlns:p14="http://schemas.microsoft.com/office/powerpoint/2010/main" val="1947446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285C-24AB-2C21-F738-D2806DC93EAE}"/>
              </a:ext>
            </a:extLst>
          </p:cNvPr>
          <p:cNvSpPr>
            <a:spLocks noGrp="1"/>
          </p:cNvSpPr>
          <p:nvPr>
            <p:ph type="title"/>
          </p:nvPr>
        </p:nvSpPr>
        <p:spPr/>
        <p:txBody>
          <a:bodyPr/>
          <a:lstStyle/>
          <a:p>
            <a:r>
              <a:rPr lang="en-US" dirty="0"/>
              <a:t>The good things</a:t>
            </a:r>
          </a:p>
        </p:txBody>
      </p:sp>
      <p:sp>
        <p:nvSpPr>
          <p:cNvPr id="3" name="Content Placeholder 2">
            <a:extLst>
              <a:ext uri="{FF2B5EF4-FFF2-40B4-BE49-F238E27FC236}">
                <a16:creationId xmlns:a16="http://schemas.microsoft.com/office/drawing/2014/main" id="{213E0A6A-E5ED-0760-2926-492C657A009E}"/>
              </a:ext>
            </a:extLst>
          </p:cNvPr>
          <p:cNvSpPr>
            <a:spLocks noGrp="1"/>
          </p:cNvSpPr>
          <p:nvPr>
            <p:ph idx="1"/>
          </p:nvPr>
        </p:nvSpPr>
        <p:spPr/>
        <p:txBody>
          <a:bodyPr/>
          <a:lstStyle/>
          <a:p>
            <a:r>
              <a:rPr lang="en-US" dirty="0"/>
              <a:t>Thanks to GitHub’s ability to create issues for all members of the team to see, it made communication on the various issues during production far easier to diagnose and assess.</a:t>
            </a:r>
          </a:p>
          <a:p>
            <a:r>
              <a:rPr lang="en-US" dirty="0"/>
              <a:t>The ESP 32U/Bluetooth functionality was surprisingly simpler than we originally anticipated having to only add a few more lines of code to make it compatible with the current version of the program.</a:t>
            </a:r>
          </a:p>
          <a:p>
            <a:r>
              <a:rPr lang="en-US" dirty="0"/>
              <a:t>Communication initially was semi lacking, and it occurred to us all during the project how vital and instrumental communication can be during larger more complex projects.</a:t>
            </a:r>
          </a:p>
        </p:txBody>
      </p:sp>
    </p:spTree>
    <p:extLst>
      <p:ext uri="{BB962C8B-B14F-4D97-AF65-F5344CB8AC3E}">
        <p14:creationId xmlns:p14="http://schemas.microsoft.com/office/powerpoint/2010/main" val="837291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8A5E9-193C-D49E-A639-7785839AB120}"/>
              </a:ext>
            </a:extLst>
          </p:cNvPr>
          <p:cNvSpPr>
            <a:spLocks noGrp="1"/>
          </p:cNvSpPr>
          <p:nvPr>
            <p:ph type="title"/>
          </p:nvPr>
        </p:nvSpPr>
        <p:spPr/>
        <p:txBody>
          <a:bodyPr/>
          <a:lstStyle/>
          <a:p>
            <a:r>
              <a:rPr lang="en-US" dirty="0"/>
              <a:t>The challenges </a:t>
            </a:r>
          </a:p>
        </p:txBody>
      </p:sp>
      <p:sp>
        <p:nvSpPr>
          <p:cNvPr id="3" name="Content Placeholder 2">
            <a:extLst>
              <a:ext uri="{FF2B5EF4-FFF2-40B4-BE49-F238E27FC236}">
                <a16:creationId xmlns:a16="http://schemas.microsoft.com/office/drawing/2014/main" id="{D4B78943-37B8-9680-9084-781700B9D390}"/>
              </a:ext>
            </a:extLst>
          </p:cNvPr>
          <p:cNvSpPr>
            <a:spLocks noGrp="1"/>
          </p:cNvSpPr>
          <p:nvPr>
            <p:ph idx="1"/>
          </p:nvPr>
        </p:nvSpPr>
        <p:spPr/>
        <p:txBody>
          <a:bodyPr/>
          <a:lstStyle/>
          <a:p>
            <a:r>
              <a:rPr lang="en-US" dirty="0"/>
              <a:t>One of the bigger issues we faced was on the remote aspect on the project. For unknown reasons at the time one of the buttons failed to operate. This proved to be very challenging as it took quite some time to diagnose the core issue responsible for the malfunction.</a:t>
            </a:r>
          </a:p>
          <a:p>
            <a:r>
              <a:rPr lang="en-US" dirty="0"/>
              <a:t>The primary program proved to have its own set of challenges, the moment you would fix a single issue another would rise and take its place such as lining up the health bars on the HTML aspect, the printing of the remote shell, and various other issues that we did not originally anticipate would be major issues.</a:t>
            </a:r>
          </a:p>
        </p:txBody>
      </p:sp>
    </p:spTree>
    <p:extLst>
      <p:ext uri="{BB962C8B-B14F-4D97-AF65-F5344CB8AC3E}">
        <p14:creationId xmlns:p14="http://schemas.microsoft.com/office/powerpoint/2010/main" val="2744171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77E1-244A-CD1B-39C2-1813C2467B32}"/>
              </a:ext>
            </a:extLst>
          </p:cNvPr>
          <p:cNvSpPr>
            <a:spLocks noGrp="1"/>
          </p:cNvSpPr>
          <p:nvPr>
            <p:ph type="title"/>
          </p:nvPr>
        </p:nvSpPr>
        <p:spPr/>
        <p:txBody>
          <a:bodyPr/>
          <a:lstStyle/>
          <a:p>
            <a:r>
              <a:rPr lang="en-US" dirty="0"/>
              <a:t>Lessons learned </a:t>
            </a:r>
          </a:p>
        </p:txBody>
      </p:sp>
      <p:sp>
        <p:nvSpPr>
          <p:cNvPr id="3" name="Content Placeholder 2">
            <a:extLst>
              <a:ext uri="{FF2B5EF4-FFF2-40B4-BE49-F238E27FC236}">
                <a16:creationId xmlns:a16="http://schemas.microsoft.com/office/drawing/2014/main" id="{9DAD62AE-8E80-BF58-0750-09057DCD4306}"/>
              </a:ext>
            </a:extLst>
          </p:cNvPr>
          <p:cNvSpPr>
            <a:spLocks noGrp="1"/>
          </p:cNvSpPr>
          <p:nvPr>
            <p:ph idx="1"/>
          </p:nvPr>
        </p:nvSpPr>
        <p:spPr/>
        <p:txBody>
          <a:bodyPr/>
          <a:lstStyle/>
          <a:p>
            <a:r>
              <a:rPr lang="en-US" dirty="0"/>
              <a:t>As previously stated, proper communication was far more valuable than originally anticipated. It was a hard lesson to accept but one we had to adapt to nonetheless </a:t>
            </a:r>
          </a:p>
          <a:p>
            <a:r>
              <a:rPr lang="en-US" dirty="0"/>
              <a:t>Sticking to the project scope can sometimes be difficult, especially when later down the line you think of various ways to improve things at the cost of going off scope.</a:t>
            </a:r>
          </a:p>
          <a:p>
            <a:endParaRPr lang="en-US" dirty="0"/>
          </a:p>
        </p:txBody>
      </p:sp>
    </p:spTree>
    <p:extLst>
      <p:ext uri="{BB962C8B-B14F-4D97-AF65-F5344CB8AC3E}">
        <p14:creationId xmlns:p14="http://schemas.microsoft.com/office/powerpoint/2010/main" val="2529919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8F1E-493C-7435-1E84-B380180B797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185933A-830A-CF86-B800-6137473D0E93}"/>
              </a:ext>
            </a:extLst>
          </p:cNvPr>
          <p:cNvSpPr>
            <a:spLocks noGrp="1"/>
          </p:cNvSpPr>
          <p:nvPr>
            <p:ph idx="1"/>
          </p:nvPr>
        </p:nvSpPr>
        <p:spPr/>
        <p:txBody>
          <a:bodyPr/>
          <a:lstStyle/>
          <a:p>
            <a:pPr marL="0" indent="0">
              <a:buNone/>
            </a:pPr>
            <a:r>
              <a:rPr lang="en-US" dirty="0"/>
              <a:t>We learned largely about the importance of communication, the various services offered freely on GitHub, how to create functioning technical objects using Breadboards, as well as large number of things related to programming. </a:t>
            </a:r>
          </a:p>
          <a:p>
            <a:pPr marL="0" indent="0">
              <a:buNone/>
            </a:pPr>
            <a:r>
              <a:rPr lang="en-US" dirty="0"/>
              <a:t>Ultimately the project was a challenge but one we will be better prepared for next time such a challenge arises.</a:t>
            </a:r>
          </a:p>
        </p:txBody>
      </p:sp>
    </p:spTree>
    <p:extLst>
      <p:ext uri="{BB962C8B-B14F-4D97-AF65-F5344CB8AC3E}">
        <p14:creationId xmlns:p14="http://schemas.microsoft.com/office/powerpoint/2010/main" val="3151630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590</Words>
  <Application>Microsoft Office PowerPoint</Application>
  <PresentationFormat>Widescreen</PresentationFormat>
  <Paragraphs>31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The members of the Arcane Armoury Project</vt:lpstr>
      <vt:lpstr>The Arcane Armoury Project</vt:lpstr>
      <vt:lpstr>The Scope of The Arcane Armoury Project</vt:lpstr>
      <vt:lpstr>The Tech Stack</vt:lpstr>
      <vt:lpstr>The good things</vt:lpstr>
      <vt:lpstr>The challenges </vt:lpstr>
      <vt:lpstr>Lessons learned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Brayden Burton</dc:creator>
  <cp:lastModifiedBy>Brayden Burton</cp:lastModifiedBy>
  <cp:revision>1</cp:revision>
  <dcterms:created xsi:type="dcterms:W3CDTF">2026-04-01T16:28:27Z</dcterms:created>
  <dcterms:modified xsi:type="dcterms:W3CDTF">2026-04-01T17:52:47Z</dcterms:modified>
</cp:coreProperties>
</file>